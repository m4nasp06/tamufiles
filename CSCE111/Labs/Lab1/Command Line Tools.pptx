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1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B347-2B6B-4478-572C-AE7C046FA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5679A-4983-C984-D918-1A7467C06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F1844-7067-645A-863A-9F21D99B2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814D1-F7FD-CA75-711F-DAACAE4E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DAD33-B431-F24E-AB0F-CB1ED7A5E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0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5245-EB82-2094-D3D5-41721AC6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215D9-5F9B-AE6A-03D6-03D558D8E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AB6D8-EB2D-D92B-CDA7-E9C5A111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14F4C-E6FA-232D-2806-C7DA388E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2A48F-A5FD-1439-620C-80792565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5E8F-3FA4-4CF5-E187-4367C8AB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44118-949E-6F10-AE9A-0AA659352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360D0-6CF8-FD51-0F98-7A8E92E7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EDAB6-5226-CFF1-4443-4039C8B9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FD8A5-1891-886D-BFE8-BE280179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6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BC15-1BBB-3202-6C86-E7E163F8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D2287-1ACB-AA8A-973A-01C2C9F18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D6B1B-DE65-9754-2855-7CEFA29C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56D81-CB69-DC42-4BAC-7EC270250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A529E-09EB-53CA-703F-2FC75B99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4CE5B-A439-6795-B3F4-53748846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0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12223-15DE-A9C4-C68F-E28504EA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8DBE-BC00-D750-3CE6-2324783CE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0F55B-E111-344A-3156-E714F8FED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78564-EC33-84A2-628C-357D703F1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13E30-EF2A-EF25-8446-89BB9B223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2C3E9-F0D8-23F1-8A01-E15961ACA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3A05C-EF16-2A53-5372-EEFB5ABB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DCD0A-708F-EA8F-6B00-0C7BFCD2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7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4D4F-EA6C-45F1-E210-1BDFEA00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73876-6115-4047-6F4E-2C99711D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60AA1-B5CF-8187-F290-96B98980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E68AA-054F-E0A2-74A2-2663F354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95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4CB35B-1B44-E738-59D9-1612E66A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A63DE-F2F1-0A26-D9B3-B877D32B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41E6B-ED57-58F5-B8A1-FAAD9235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1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8421-4B6B-D556-0952-211F5B6F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93A71-B284-984F-9357-F99AE0114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12F97-DBF7-84F5-51D2-AD213A0B4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8ED62-4956-CCE9-3AA6-D438C4C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41A9A-482A-9ED6-9166-9C81C289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F423E-423D-F85A-2068-6AFF2E15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2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C546-659F-4E33-E53D-FD683B11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D6703-B052-4F5A-79CF-D82C44E1E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B9769-0769-1930-2442-1E804C084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58D7F-B992-FDC3-B8AB-B7382133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3529A-B61C-80A9-70AD-526A2DD9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3E507-3566-46E5-2C05-DEA18AAE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2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C4B3-4AF9-A759-7528-1167BEF2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92A0D-585C-3674-1522-DBAD1F9D7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6FD7A-59F7-0F3C-18CE-197C3268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01E74-6FB6-F4F9-9BCA-D62884C8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3B46B-89CC-9CFD-47FC-1915431A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71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FAC1F-AD33-EE0D-5EDB-23680431F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AABEE-4638-B688-5928-E23B4C377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23690-DFDE-15D2-509C-A8092383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5DAFC-2642-6E86-2EA6-99D440CD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3E3C-81EA-9D1C-EB34-E0BA2BCB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4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BB4E8-C418-4B29-49A8-A588187C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EAC6A-2792-6B02-7E8B-E55FA5825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96653-9DF1-483D-9601-968447794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AD693-CFE6-490A-BD03-CFA8B1DA13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0CC55-C282-D251-90A7-630A5C0B5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2290E-4226-E558-5002-723FBA106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2251C-823C-402F-9512-AADFE2EC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2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E957-5FC7-1696-FC88-4541182F5A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Command Line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8CFBB-3A93-203B-FB35-C4115E4F5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475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C17E-AA2D-59EA-246F-2F2827BD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Systems 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691BB-7ECF-9FEE-66C3-CDBA4DF58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store information and programs.</a:t>
            </a:r>
          </a:p>
          <a:p>
            <a:r>
              <a:rPr lang="en-US" dirty="0"/>
              <a:t>File system in computer help us organize files.</a:t>
            </a:r>
          </a:p>
          <a:p>
            <a:r>
              <a:rPr lang="en-US" dirty="0"/>
              <a:t>Every operating system has a different file system which has its own conventions and practices.</a:t>
            </a:r>
          </a:p>
          <a:p>
            <a:r>
              <a:rPr lang="en-US" dirty="0"/>
              <a:t>The core concept of File and Folder is still the same in all file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53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CDA3-A2A0-2103-19A4-C205AC99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Systems 2/2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31ED-3C04-B618-F59F-AAE3FCA26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7476" cy="4351338"/>
          </a:xfrm>
        </p:spPr>
        <p:txBody>
          <a:bodyPr/>
          <a:lstStyle/>
          <a:p>
            <a:r>
              <a:rPr lang="en-US" dirty="0"/>
              <a:t>File systems organize files in the form of a tree.</a:t>
            </a:r>
          </a:p>
          <a:p>
            <a:r>
              <a:rPr lang="en-US" dirty="0"/>
              <a:t>The starting point of the file system is called the root.</a:t>
            </a:r>
          </a:p>
          <a:p>
            <a:r>
              <a:rPr lang="en-US" dirty="0"/>
              <a:t>The location of a particular file is a path through the tree starting at the root.</a:t>
            </a:r>
          </a:p>
          <a:p>
            <a:r>
              <a:rPr lang="en-US" dirty="0"/>
              <a:t>In Mac and Linux systems the root of the filesystem is /</a:t>
            </a:r>
          </a:p>
          <a:p>
            <a:r>
              <a:rPr lang="en-US" dirty="0"/>
              <a:t>In Windows, the root of the filesystem is the drive letter.</a:t>
            </a:r>
          </a:p>
        </p:txBody>
      </p:sp>
    </p:spTree>
    <p:extLst>
      <p:ext uri="{BB962C8B-B14F-4D97-AF65-F5344CB8AC3E}">
        <p14:creationId xmlns:p14="http://schemas.microsoft.com/office/powerpoint/2010/main" val="308120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6ABC-C7B3-6FD4-C816-9654B74A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83389-7F4D-887E-1E4F-FCE1DE0A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list of folders that you must open starting at the root of the file system define a path that you must traverse to reach the file.</a:t>
            </a:r>
          </a:p>
          <a:p>
            <a:r>
              <a:rPr lang="en-US" dirty="0"/>
              <a:t>This path is commonly specified in a format where the folder names are separated by either a / or \.</a:t>
            </a:r>
          </a:p>
          <a:p>
            <a:endParaRPr lang="en-US" dirty="0"/>
          </a:p>
          <a:p>
            <a:r>
              <a:rPr lang="en-US" dirty="0"/>
              <a:t>/ is used in Linux and Mac systems.</a:t>
            </a:r>
          </a:p>
          <a:p>
            <a:r>
              <a:rPr lang="en-US" dirty="0"/>
              <a:t>\ is used in Windows systems.</a:t>
            </a:r>
          </a:p>
        </p:txBody>
      </p:sp>
    </p:spTree>
    <p:extLst>
      <p:ext uri="{BB962C8B-B14F-4D97-AF65-F5344CB8AC3E}">
        <p14:creationId xmlns:p14="http://schemas.microsoft.com/office/powerpoint/2010/main" val="238123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C7A2-BA29-825D-4518-4A9A8537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Path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F38B5-7761-D7DC-98F9-32C0D9EB1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D:\Google Drive</a:t>
            </a:r>
            <a:r>
              <a:rPr lang="en-US" dirty="0">
                <a:solidFill>
                  <a:srgbClr val="C00000"/>
                </a:solidFill>
              </a:rPr>
              <a:t>\</a:t>
            </a:r>
            <a:r>
              <a:rPr lang="en-US" dirty="0"/>
              <a:t>CSCE 111 - Java - Fall 2025</a:t>
            </a:r>
            <a:r>
              <a:rPr lang="en-US" dirty="0">
                <a:solidFill>
                  <a:srgbClr val="C00000"/>
                </a:solidFill>
              </a:rPr>
              <a:t>\</a:t>
            </a:r>
            <a:r>
              <a:rPr lang="en-US" dirty="0"/>
              <a:t>CSCE 111 - Students</a:t>
            </a:r>
            <a:r>
              <a:rPr lang="en-US" dirty="0">
                <a:solidFill>
                  <a:srgbClr val="C00000"/>
                </a:solidFill>
              </a:rPr>
              <a:t>\</a:t>
            </a:r>
            <a:r>
              <a:rPr lang="en-US" dirty="0"/>
              <a:t>Week 01</a:t>
            </a:r>
            <a:r>
              <a:rPr lang="en-US" dirty="0">
                <a:solidFill>
                  <a:srgbClr val="C00000"/>
                </a:solidFill>
              </a:rPr>
              <a:t>\</a:t>
            </a:r>
            <a:r>
              <a:rPr lang="en-US" dirty="0"/>
              <a:t>Lab 1</a:t>
            </a:r>
            <a:r>
              <a:rPr lang="en-US" dirty="0">
                <a:solidFill>
                  <a:srgbClr val="C00000"/>
                </a:solidFill>
              </a:rPr>
              <a:t>\</a:t>
            </a:r>
            <a:r>
              <a:rPr lang="en-US" dirty="0"/>
              <a:t>Lab01_Q1.java</a:t>
            </a:r>
          </a:p>
          <a:p>
            <a:endParaRPr lang="en-US" dirty="0"/>
          </a:p>
          <a:p>
            <a:r>
              <a:rPr lang="en-US" dirty="0"/>
              <a:t>/</a:t>
            </a:r>
            <a:r>
              <a:rPr lang="en-US" dirty="0" err="1"/>
              <a:t>mnt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/>
              <a:t>d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/>
              <a:t>repos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/>
              <a:t>Sp25-Labs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/>
              <a:t>tests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/>
              <a:t>java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 err="1"/>
              <a:t>io_tests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/>
              <a:t>Lab01_Q4_in_1.txt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219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1ACC0-BB7D-61E5-0FD7-A518CFC7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File Paths 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3861-B4EA-FE34-5687-69DAEAED3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file paths tell us how to get to a file from the root.</a:t>
            </a:r>
          </a:p>
          <a:p>
            <a:r>
              <a:rPr lang="en-US" dirty="0"/>
              <a:t>Sometime we only need to know, how to get to a file starting from a location that is not root. In that case, a file path starting at a non-root location can be used.</a:t>
            </a:r>
          </a:p>
          <a:p>
            <a:r>
              <a:rPr lang="en-US" dirty="0"/>
              <a:t>Paths that don’t start at root are called relative paths because they are relative to a non-root location. </a:t>
            </a:r>
          </a:p>
        </p:txBody>
      </p:sp>
    </p:spTree>
    <p:extLst>
      <p:ext uri="{BB962C8B-B14F-4D97-AF65-F5344CB8AC3E}">
        <p14:creationId xmlns:p14="http://schemas.microsoft.com/office/powerpoint/2010/main" val="203333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02EE-ADCF-C40F-457C-4A1158E6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File Paths 2/2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7297B-2584-C775-82D0-382211F00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full paths that only go deeper into the tree starting from root, relative paths starting at a particular location may need to go backwards towards the root in many cases.</a:t>
            </a:r>
          </a:p>
          <a:p>
            <a:endParaRPr lang="en-US" dirty="0"/>
          </a:p>
          <a:p>
            <a:r>
              <a:rPr lang="en-US" dirty="0"/>
              <a:t>Dot (.) is used to represent current directly in </a:t>
            </a:r>
            <a:r>
              <a:rPr lang="en-US" dirty="0" err="1"/>
              <a:t>filepaths</a:t>
            </a:r>
            <a:r>
              <a:rPr lang="en-US" dirty="0"/>
              <a:t>.</a:t>
            </a:r>
          </a:p>
          <a:p>
            <a:r>
              <a:rPr lang="en-US" dirty="0"/>
              <a:t>Double dot (..) is used to represent going one step back towards root in the file paths.</a:t>
            </a:r>
          </a:p>
        </p:txBody>
      </p:sp>
    </p:spTree>
    <p:extLst>
      <p:ext uri="{BB962C8B-B14F-4D97-AF65-F5344CB8AC3E}">
        <p14:creationId xmlns:p14="http://schemas.microsoft.com/office/powerpoint/2010/main" val="1203365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C6FA-55E0-1383-DD9C-A746DE8E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4705D-67C3-C8A9-FCDB-B66D2B2A7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computers we use everyday are general purpose computers.</a:t>
            </a:r>
          </a:p>
          <a:p>
            <a:r>
              <a:rPr lang="en-US" dirty="0"/>
              <a:t>This means that there are multiple programs stored on out computers that can be started at any time.</a:t>
            </a:r>
          </a:p>
          <a:p>
            <a:r>
              <a:rPr lang="en-US" dirty="0"/>
              <a:t>Typically, we find and click on the program in the graphical interface.</a:t>
            </a:r>
          </a:p>
          <a:p>
            <a:r>
              <a:rPr lang="en-US" dirty="0"/>
              <a:t>Computers also give us a different interface called the command line interface which is a text-based interface.</a:t>
            </a:r>
          </a:p>
          <a:p>
            <a:r>
              <a:rPr lang="en-US" dirty="0"/>
              <a:t>We can achieve the same results of starting  programs by using the names of the programs on the command 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97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3F82-500F-306C-E369-B6482493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Interface (CLI)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EBD69-163B-9DDB-7247-C591BC036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command we type into command line interface is a program followed by inputs for that program.</a:t>
            </a:r>
          </a:p>
          <a:p>
            <a:r>
              <a:rPr lang="en-US" dirty="0"/>
              <a:t>For 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 cd ..</a:t>
            </a:r>
          </a:p>
          <a:p>
            <a:endParaRPr lang="en-US" dirty="0"/>
          </a:p>
          <a:p>
            <a:r>
              <a:rPr lang="en-US" dirty="0"/>
              <a:t>Here </a:t>
            </a:r>
            <a:r>
              <a:rPr lang="en-US" dirty="0">
                <a:solidFill>
                  <a:srgbClr val="C00000"/>
                </a:solidFill>
              </a:rPr>
              <a:t>cd</a:t>
            </a:r>
            <a:r>
              <a:rPr lang="en-US" dirty="0"/>
              <a:t> is the name of a program and the </a:t>
            </a:r>
            <a:r>
              <a:rPr lang="en-US" dirty="0">
                <a:solidFill>
                  <a:srgbClr val="C00000"/>
                </a:solidFill>
              </a:rPr>
              <a:t>..</a:t>
            </a:r>
            <a:r>
              <a:rPr lang="en-US" dirty="0"/>
              <a:t> is the input to the cd program. The command shown above tells the cd program to change the present work directory to a step back towards root.</a:t>
            </a:r>
          </a:p>
        </p:txBody>
      </p:sp>
    </p:spTree>
    <p:extLst>
      <p:ext uri="{BB962C8B-B14F-4D97-AF65-F5344CB8AC3E}">
        <p14:creationId xmlns:p14="http://schemas.microsoft.com/office/powerpoint/2010/main" val="5474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E738-D9E4-0590-4EF8-6FF67CDE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Selection on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2A901-8CE4-13E2-1523-FF1602E26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general-purpose computer, like the one you are using, has many programs stored on it which can </a:t>
            </a:r>
            <a:r>
              <a:rPr lang="en-US"/>
              <a:t>be executed by user. </a:t>
            </a:r>
            <a:endParaRPr lang="en-US" dirty="0"/>
          </a:p>
          <a:p>
            <a:r>
              <a:rPr lang="en-US" dirty="0"/>
              <a:t>Programs like cd, </a:t>
            </a:r>
            <a:r>
              <a:rPr lang="en-US" dirty="0" err="1"/>
              <a:t>pwd</a:t>
            </a:r>
            <a:r>
              <a:rPr lang="en-US" dirty="0"/>
              <a:t>, java, </a:t>
            </a:r>
            <a:r>
              <a:rPr lang="en-US" dirty="0" err="1"/>
              <a:t>javac</a:t>
            </a:r>
            <a:r>
              <a:rPr lang="en-US" dirty="0"/>
              <a:t> etc. are stored as files in our computer systems.</a:t>
            </a:r>
          </a:p>
          <a:p>
            <a:r>
              <a:rPr lang="en-US" dirty="0"/>
              <a:t>To select the program to run on the CLI, we can provide the full file path of these programs.</a:t>
            </a:r>
          </a:p>
          <a:p>
            <a:r>
              <a:rPr lang="en-US" dirty="0"/>
              <a:t>Full file paths can be very tedious to write. So Operating Systems provide search functionality for programs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3100899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D39C-6B0B-2209-0EF1-0F9712BD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D19A4-00B0-FA79-D1C6-314FD1C05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operating system maintains a list of paths where programs are installed in the system. This list is called the PATH variable.</a:t>
            </a:r>
          </a:p>
          <a:p>
            <a:r>
              <a:rPr lang="en-US" dirty="0"/>
              <a:t>With the PATH variable in place, we only need to write the name of the program instead of its full path.</a:t>
            </a:r>
          </a:p>
          <a:p>
            <a:pPr lvl="1"/>
            <a:r>
              <a:rPr lang="en-US" dirty="0"/>
              <a:t>java                          (when relying on PATH variable)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/bin/java        (when not relying on PATH variable)</a:t>
            </a:r>
          </a:p>
          <a:p>
            <a:r>
              <a:rPr lang="en-US" dirty="0"/>
              <a:t>When just the program name is given on CLI, system will look for that program in every location in PATH variable one by one.</a:t>
            </a:r>
          </a:p>
          <a:p>
            <a:r>
              <a:rPr lang="en-US" dirty="0"/>
              <a:t>Error message raised if program is not found.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4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C845-A55E-020C-CFD9-4D64E2D9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Programs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9345-403C-DF40-5B4B-334F7FAC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collection of programs called shell utils are useful for navigating the CLI.</a:t>
            </a:r>
          </a:p>
          <a:p>
            <a:r>
              <a:rPr lang="en-US" dirty="0"/>
              <a:t>The utility programs include:</a:t>
            </a:r>
          </a:p>
          <a:p>
            <a:pPr lvl="1"/>
            <a:r>
              <a:rPr lang="en-US" dirty="0"/>
              <a:t>cd,</a:t>
            </a:r>
          </a:p>
          <a:p>
            <a:pPr lvl="1"/>
            <a:r>
              <a:rPr lang="en-US" dirty="0" err="1"/>
              <a:t>pwd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ls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976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A493-39C4-2128-F20A-14058D3E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Directory (cd)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DD4E-ED30-5BF9-5C6E-FDF2A5D51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cd program allows you to change the current directory you are in.</a:t>
            </a:r>
          </a:p>
          <a:p>
            <a:endParaRPr lang="en-US" dirty="0"/>
          </a:p>
          <a:p>
            <a:r>
              <a:rPr lang="en-US" dirty="0"/>
              <a:t>You can move forward and backwards from current directory using . and .. operations</a:t>
            </a:r>
          </a:p>
        </p:txBody>
      </p:sp>
    </p:spTree>
    <p:extLst>
      <p:ext uri="{BB962C8B-B14F-4D97-AF65-F5344CB8AC3E}">
        <p14:creationId xmlns:p14="http://schemas.microsoft.com/office/powerpoint/2010/main" val="4053704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38C9-A7B0-D909-FDDF-D63E3A0B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83D74-EDF4-1D20-F4E8-D5DFCE0A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 Work Directory (</a:t>
            </a:r>
            <a:r>
              <a:rPr lang="en-US" dirty="0" err="1"/>
              <a:t>pwd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187F4-B646-5182-0C9D-CAF7F8E7C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pwd</a:t>
            </a:r>
            <a:r>
              <a:rPr lang="en-US" dirty="0"/>
              <a:t> program allows you to see the full path of the current directory you are in.</a:t>
            </a:r>
          </a:p>
          <a:p>
            <a:endParaRPr lang="en-US" dirty="0"/>
          </a:p>
          <a:p>
            <a:r>
              <a:rPr lang="en-US" dirty="0"/>
              <a:t>This program takes no inputs</a:t>
            </a:r>
          </a:p>
        </p:txBody>
      </p:sp>
    </p:spTree>
    <p:extLst>
      <p:ext uri="{BB962C8B-B14F-4D97-AF65-F5344CB8AC3E}">
        <p14:creationId xmlns:p14="http://schemas.microsoft.com/office/powerpoint/2010/main" val="2832199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6A3E9-1B47-B5C2-AEB1-11F63FE0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(ls)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F0DF2-D87C-5DB0-C911-3FA9C8ADC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you the list of files in the current directory.</a:t>
            </a:r>
          </a:p>
          <a:p>
            <a:endParaRPr lang="en-US" dirty="0"/>
          </a:p>
          <a:p>
            <a:r>
              <a:rPr lang="en-US" dirty="0"/>
              <a:t>The program can work without any inputs.</a:t>
            </a:r>
          </a:p>
          <a:p>
            <a:endParaRPr lang="en-US" dirty="0"/>
          </a:p>
          <a:p>
            <a:r>
              <a:rPr lang="en-US" dirty="0"/>
              <a:t>Some optional inputs can be provided to get more information about the files </a:t>
            </a:r>
          </a:p>
        </p:txBody>
      </p:sp>
    </p:spTree>
    <p:extLst>
      <p:ext uri="{BB962C8B-B14F-4D97-AF65-F5344CB8AC3E}">
        <p14:creationId xmlns:p14="http://schemas.microsoft.com/office/powerpoint/2010/main" val="330427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865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Command Line Tools</vt:lpstr>
      <vt:lpstr>File Systems 1/2</vt:lpstr>
      <vt:lpstr>File Systems 2/2</vt:lpstr>
      <vt:lpstr>File Paths</vt:lpstr>
      <vt:lpstr>File Path Examples</vt:lpstr>
      <vt:lpstr>Relative File Paths 1/2</vt:lpstr>
      <vt:lpstr>Relative File Paths 2/2</vt:lpstr>
      <vt:lpstr>Computer Interfaces</vt:lpstr>
      <vt:lpstr>Command Line Interface (CLI)</vt:lpstr>
      <vt:lpstr>Program Selection on CLI</vt:lpstr>
      <vt:lpstr>PATH Variable</vt:lpstr>
      <vt:lpstr>Some Useful Programs </vt:lpstr>
      <vt:lpstr>Change Directory (cd)</vt:lpstr>
      <vt:lpstr>Present Work Directory (pwd)</vt:lpstr>
      <vt:lpstr>List (ls)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Mahmood, Suleman</dc:creator>
  <cp:lastModifiedBy>Mahmood, Suleman</cp:lastModifiedBy>
  <cp:revision>11</cp:revision>
  <dcterms:created xsi:type="dcterms:W3CDTF">2025-08-28T18:40:15Z</dcterms:created>
  <dcterms:modified xsi:type="dcterms:W3CDTF">2025-08-29T13:29:15Z</dcterms:modified>
</cp:coreProperties>
</file>